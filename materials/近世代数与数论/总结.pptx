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2" r:id="rId4"/>
    <p:sldId id="275" r:id="rId5"/>
    <p:sldId id="273" r:id="rId6"/>
    <p:sldId id="266" r:id="rId7"/>
    <p:sldId id="268" r:id="rId8"/>
    <p:sldId id="274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6" d="100"/>
          <a:sy n="86" d="100"/>
        </p:scale>
        <p:origin x="1113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2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86116" y="2428868"/>
            <a:ext cx="16594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总    结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243136" y="1569454"/>
            <a:ext cx="1800200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群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定义、判定生成群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循环群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483768" y="1569454"/>
            <a:ext cx="1935832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子群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判定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拉格朗日定理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923656" y="1569454"/>
            <a:ext cx="920585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正规子群</a:t>
            </a: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363816" y="1557478"/>
            <a:ext cx="864096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商群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659960" y="1569454"/>
            <a:ext cx="1224136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群同态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定理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2187352" y="2376680"/>
            <a:ext cx="216024" cy="100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563616" y="2405115"/>
            <a:ext cx="216024" cy="100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6003776" y="2405115"/>
            <a:ext cx="216024" cy="100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7371928" y="2405115"/>
            <a:ext cx="216024" cy="100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79512" y="260648"/>
            <a:ext cx="9813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</a:rPr>
              <a:t>群论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9512" y="3501008"/>
            <a:ext cx="86330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会按判定、验证：群、子群、正规子群、群同态</a:t>
            </a:r>
            <a:endParaRPr lang="zh-CN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4465" y="4581128"/>
            <a:ext cx="86330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群中元素的阶的性质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拉格朗日定理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循环群的性质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置换群与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Cayley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5" grpId="0" animBg="1"/>
      <p:bldP spid="12" grpId="0" animBg="1"/>
      <p:bldP spid="13" grpId="0" animBg="1"/>
      <p:bldP spid="14" grpId="0" animBg="1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79512" y="260648"/>
            <a:ext cx="1699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/>
                <a:ea typeface="华文楷体" panose="02010600040101010101" pitchFamily="2" charset="-122"/>
                <a:cs typeface="+mn-cs"/>
              </a:rPr>
              <a:t>环论总结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51520" y="908720"/>
            <a:ext cx="1800200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/>
                <a:ea typeface="华文楷体" panose="02010600040101010101" pitchFamily="2" charset="-122"/>
                <a:cs typeface="+mn-cs"/>
              </a:rPr>
              <a:t>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492152" y="908720"/>
            <a:ext cx="1935832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/>
                <a:ea typeface="华文楷体" panose="02010600040101010101" pitchFamily="2" charset="-122"/>
                <a:cs typeface="+mn-cs"/>
              </a:rPr>
              <a:t>子环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932040" y="908720"/>
            <a:ext cx="920585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/>
                <a:ea typeface="华文楷体" panose="02010600040101010101" pitchFamily="2" charset="-122"/>
                <a:cs typeface="+mn-cs"/>
              </a:rPr>
              <a:t>理想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372200" y="896744"/>
            <a:ext cx="864096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/>
                <a:ea typeface="华文楷体" panose="02010600040101010101" pitchFamily="2" charset="-122"/>
                <a:cs typeface="+mn-cs"/>
              </a:rPr>
              <a:t>商环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668344" y="908720"/>
            <a:ext cx="1224136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/>
                <a:ea typeface="华文楷体" panose="02010600040101010101" pitchFamily="2" charset="-122"/>
                <a:cs typeface="+mn-cs"/>
              </a:rPr>
              <a:t>环同态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/>
                <a:ea typeface="华文楷体" panose="02010600040101010101" pitchFamily="2" charset="-122"/>
                <a:cs typeface="+mn-cs"/>
              </a:rPr>
              <a:t>定理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1" name="右箭头 20"/>
          <p:cNvSpPr/>
          <p:nvPr/>
        </p:nvSpPr>
        <p:spPr>
          <a:xfrm>
            <a:off x="2195736" y="1715946"/>
            <a:ext cx="216024" cy="100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2" name="右箭头 21"/>
          <p:cNvSpPr/>
          <p:nvPr/>
        </p:nvSpPr>
        <p:spPr>
          <a:xfrm>
            <a:off x="4572000" y="1744381"/>
            <a:ext cx="216024" cy="100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6012160" y="1744381"/>
            <a:ext cx="216024" cy="100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7380312" y="1744381"/>
            <a:ext cx="216024" cy="100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1861" y="3477972"/>
            <a:ext cx="55402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从整数环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(Z, +,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的性质推广到一般的环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99791" y="4055539"/>
            <a:ext cx="4232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从整数环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(Z, +,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得到域：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57058" y="4502308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-609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Z/(p)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495100" y="4544415"/>
            <a:ext cx="1346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分式域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Q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99791" y="5031164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整数性质：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140934" y="5518983"/>
            <a:ext cx="80153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整除，带余除法、素数、唯一因子分解、同余、孙子定理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43223" y="6164793"/>
            <a:ext cx="59634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上述两方面应用于域上的多项式环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F[x]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Cambria" panose="0204050305040603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0" y="2664160"/>
            <a:ext cx="86330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会按判定、验证：环、子环、理想、环同态</a:t>
            </a:r>
            <a:endParaRPr lang="zh-CN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" grpId="0"/>
      <p:bldP spid="25" grpId="0"/>
      <p:bldP spid="4" grpId="0"/>
      <p:bldP spid="26" grpId="0"/>
      <p:bldP spid="27" grpId="0"/>
      <p:bldP spid="28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260648"/>
            <a:ext cx="8064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域论：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7353" y="3777000"/>
            <a:ext cx="83829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有限域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）有限域的结构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(4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种形式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与唯一性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）构造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个元素的有限域。找出本元原。写出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[x]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次不可约多项式的分裂域，写出全部根。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）有限域的子域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）有限域的自同构群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7353" y="1196752"/>
            <a:ext cx="80641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域的扩张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）域的特征和素域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）域的扩张，单扩张，代数元、超越元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）代数扩张及性质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）分裂域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2142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21429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数论：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9013" y="1340768"/>
            <a:ext cx="84296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第一章：整除性与唯一因子分解：</a:t>
            </a:r>
            <a:endParaRPr lang="en-US" altLang="zh-CN" sz="2800" b="1" dirty="0"/>
          </a:p>
          <a:p>
            <a:r>
              <a:rPr lang="zh-CN" altLang="en-US" sz="2800" b="1" dirty="0">
                <a:solidFill>
                  <a:srgbClr val="0070C0"/>
                </a:solidFill>
              </a:rPr>
              <a:t>整除性、带余除法定理、一次不定方程：向同余过渡</a:t>
            </a:r>
            <a:endParaRPr lang="en-US" altLang="zh-CN" sz="2800" b="1" dirty="0">
              <a:solidFill>
                <a:srgbClr val="0070C0"/>
              </a:solidFill>
            </a:endParaRPr>
          </a:p>
          <a:p>
            <a:r>
              <a:rPr lang="zh-CN" altLang="en-US" sz="2800" b="1" dirty="0"/>
              <a:t>最大公因子、最小公倍数、</a:t>
            </a:r>
            <a:r>
              <a:rPr lang="zh-CN" altLang="en-US" sz="2800" b="1" dirty="0">
                <a:solidFill>
                  <a:srgbClr val="FF0000"/>
                </a:solidFill>
              </a:rPr>
              <a:t>欧几里得算法</a:t>
            </a:r>
            <a:r>
              <a:rPr lang="zh-CN" altLang="en-US" sz="2800" b="1" dirty="0"/>
              <a:t>、素数、</a:t>
            </a:r>
            <a:r>
              <a:rPr lang="zh-CN" altLang="en-US" sz="2800" b="1" dirty="0">
                <a:solidFill>
                  <a:srgbClr val="FF0000"/>
                </a:solidFill>
              </a:rPr>
              <a:t>唯一因子分解定理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(Z, +,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是欧氏整环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第二章：同余</a:t>
            </a:r>
            <a:endParaRPr lang="en-US" altLang="zh-CN" sz="2800" b="1" dirty="0"/>
          </a:p>
          <a:p>
            <a:r>
              <a:rPr lang="zh-CN" altLang="en-US" sz="2800" b="1" dirty="0"/>
              <a:t>同余定义、剩余类、完全剩余系、缩系、一次同余式、模是素数同余式、</a:t>
            </a:r>
            <a:r>
              <a:rPr lang="zh-CN" altLang="en-US" sz="2800" b="1" dirty="0">
                <a:solidFill>
                  <a:srgbClr val="FF0000"/>
                </a:solidFill>
              </a:rPr>
              <a:t>费马小定理、欧拉定理、孙子定理及其应用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(Z</a:t>
            </a:r>
            <a:r>
              <a:rPr lang="en-US" altLang="zh-CN" sz="2800" b="1" baseline="-25000" dirty="0">
                <a:solidFill>
                  <a:srgbClr val="0070C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, +,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是环，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baseline="-25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, +,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是域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2142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3842" y="11279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数论：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9013" y="777455"/>
            <a:ext cx="842968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第三章：二次剩余</a:t>
            </a:r>
            <a:endParaRPr lang="en-US" altLang="zh-CN" sz="3200" b="1" dirty="0"/>
          </a:p>
          <a:p>
            <a:r>
              <a:rPr lang="zh-CN" altLang="en-US" sz="3200" b="1" dirty="0"/>
              <a:t>二次剩余、</a:t>
            </a:r>
            <a:r>
              <a:rPr lang="zh-CN" altLang="en-US" sz="3200" b="1" dirty="0">
                <a:solidFill>
                  <a:srgbClr val="FF0000"/>
                </a:solidFill>
              </a:rPr>
              <a:t>勒让德符号</a:t>
            </a:r>
            <a:r>
              <a:rPr lang="zh-CN" altLang="en-US" sz="3200" b="1" dirty="0"/>
              <a:t>、高斯引理、</a:t>
            </a:r>
            <a:r>
              <a:rPr lang="zh-CN" altLang="en-US" sz="3200" b="1" dirty="0">
                <a:solidFill>
                  <a:srgbClr val="FF0000"/>
                </a:solidFill>
              </a:rPr>
              <a:t>二次互反律</a:t>
            </a:r>
            <a:r>
              <a:rPr lang="zh-CN" altLang="en-US" sz="3200" b="1" dirty="0"/>
              <a:t>、雅可比符号、</a:t>
            </a:r>
            <a:r>
              <a:rPr lang="zh-CN" altLang="en-US" sz="3200" b="1" dirty="0">
                <a:solidFill>
                  <a:srgbClr val="FF0000"/>
                </a:solidFill>
              </a:rPr>
              <a:t>模平方根及其应用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endParaRPr lang="en-US" altLang="zh-CN" sz="3200" b="1" dirty="0"/>
          </a:p>
          <a:p>
            <a:r>
              <a:rPr lang="zh-CN" altLang="en-US" sz="3200" b="1" dirty="0"/>
              <a:t>第四章：算术函数：</a:t>
            </a:r>
            <a:endParaRPr lang="en-US" altLang="zh-CN" sz="3200" b="1" dirty="0"/>
          </a:p>
          <a:p>
            <a:r>
              <a:rPr lang="zh-CN" altLang="en-US" sz="3200" b="1" dirty="0"/>
              <a:t>乘性函数、</a:t>
            </a:r>
            <a:r>
              <a:rPr lang="zh-CN" altLang="en-US" sz="3200" b="1" dirty="0">
                <a:solidFill>
                  <a:srgbClr val="FF0000"/>
                </a:solidFill>
              </a:rPr>
              <a:t>欧拉函数</a:t>
            </a:r>
            <a:r>
              <a:rPr lang="zh-CN" altLang="en-US" sz="3200" b="1" dirty="0"/>
              <a:t>、因子和函数、因子个数函数、</a:t>
            </a:r>
            <a:r>
              <a:rPr lang="zh-CN" altLang="en-US" sz="3200" b="1" dirty="0">
                <a:solidFill>
                  <a:srgbClr val="FF0000"/>
                </a:solidFill>
              </a:rPr>
              <a:t>莫比乌斯反演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endParaRPr lang="en-US" altLang="zh-CN" sz="3200" b="1" dirty="0"/>
          </a:p>
          <a:p>
            <a:r>
              <a:rPr lang="zh-CN" altLang="en-US" sz="3200" b="1" dirty="0"/>
              <a:t>第五章：原根</a:t>
            </a:r>
            <a:endParaRPr lang="en-US" altLang="zh-CN" sz="3200" b="1" dirty="0"/>
          </a:p>
          <a:p>
            <a:r>
              <a:rPr lang="zh-CN" altLang="en-US" sz="3200" b="1" dirty="0">
                <a:solidFill>
                  <a:srgbClr val="0070C0"/>
                </a:solidFill>
              </a:rPr>
              <a:t>群中元素的阶，循环群</a:t>
            </a:r>
            <a:endParaRPr lang="en-US" altLang="zh-CN" sz="3200" b="1" dirty="0">
              <a:solidFill>
                <a:srgbClr val="0070C0"/>
              </a:solidFill>
            </a:endParaRPr>
          </a:p>
          <a:p>
            <a:r>
              <a:rPr lang="zh-CN" altLang="en-US" sz="3200" b="1" dirty="0"/>
              <a:t>次数、</a:t>
            </a:r>
            <a:r>
              <a:rPr lang="zh-CN" altLang="en-US" sz="3200" b="1" dirty="0">
                <a:solidFill>
                  <a:srgbClr val="FF0000"/>
                </a:solidFill>
              </a:rPr>
              <a:t>原根</a:t>
            </a:r>
            <a:r>
              <a:rPr lang="zh-CN" altLang="en-US" sz="3200" b="1" dirty="0"/>
              <a:t>、次数的计算、原根的计算、指数</a:t>
            </a:r>
            <a:endParaRPr lang="zh-CN" alt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539552" y="6237312"/>
                <a:ext cx="183139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CN" sz="2800" b="1" dirty="0">
                            <a:solidFill>
                              <a:srgbClr val="0070C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altLang="zh-CN" sz="2800" i="1" dirty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28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8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sym typeface="Symbol" panose="05050102010706020507" pitchFamily="18" charset="2"/>
                  </a:rPr>
                  <a:t> </a:t>
                </a:r>
                <a:r>
                  <a:rPr lang="en-US" altLang="zh-CN" sz="28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8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</a:rPr>
                  <a:t>是群</a:t>
                </a:r>
                <a:endParaRPr lang="en-US" altLang="zh-CN" sz="2800" b="1" dirty="0">
                  <a:effectLst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6237312"/>
                <a:ext cx="1831399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24" t="-65" r="27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95536" y="946663"/>
            <a:ext cx="80641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重点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平时作业</a:t>
            </a:r>
            <a:endParaRPr lang="en-US" altLang="zh-CN" sz="32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课上提示的课外作业</a:t>
            </a:r>
            <a:endParaRPr lang="zh-CN" altLang="en-US" sz="32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4282" y="5082684"/>
            <a:ext cx="8064128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考试时间：</a:t>
            </a:r>
            <a:r>
              <a:rPr lang="zh-CN" altLang="en-US" sz="3200" b="1" dirty="0">
                <a:latin typeface="Times New Roman" panose="02020603050405020304" pitchFamily="18" charset="0"/>
              </a:rPr>
              <a:t> 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marL="457200" indent="-457200"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考试地点：</a:t>
            </a:r>
            <a:endParaRPr lang="en-US" altLang="zh-CN" sz="32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7544" y="3260894"/>
            <a:ext cx="36724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期末考试成绩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80%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平时成绩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20%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722</Words>
  <Application>WPS 演示</Application>
  <PresentationFormat>全屏显示(4:3)</PresentationFormat>
  <Paragraphs>104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0" baseType="lpstr">
      <vt:lpstr>Arial</vt:lpstr>
      <vt:lpstr>宋体</vt:lpstr>
      <vt:lpstr>Wingdings</vt:lpstr>
      <vt:lpstr>Wingdings 2</vt:lpstr>
      <vt:lpstr>Arial</vt:lpstr>
      <vt:lpstr>Times New Roman</vt:lpstr>
      <vt:lpstr>Symbol</vt:lpstr>
      <vt:lpstr>Cambria</vt:lpstr>
      <vt:lpstr>华文楷体</vt:lpstr>
      <vt:lpstr>楷体_GB2312</vt:lpstr>
      <vt:lpstr>新宋体</vt:lpstr>
      <vt:lpstr>Cambria Math</vt:lpstr>
      <vt:lpstr>Cambria Math</vt:lpstr>
      <vt:lpstr>微软雅黑</vt:lpstr>
      <vt:lpstr>Arial Unicode MS</vt:lpstr>
      <vt:lpstr>隶书</vt:lpstr>
      <vt:lpstr>Maiandra GD</vt:lpstr>
      <vt:lpstr>Calibri</vt:lpstr>
      <vt:lpstr>Cambria</vt:lpstr>
      <vt:lpstr>Symbol</vt:lpstr>
      <vt:lpstr>楷体_GB2312</vt:lpstr>
      <vt:lpstr>方正楷体_GB2312</vt:lpstr>
      <vt:lpstr>龙腾四海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zwm</dc:creator>
  <cp:lastModifiedBy>张卫明</cp:lastModifiedBy>
  <cp:revision>134</cp:revision>
  <dcterms:created xsi:type="dcterms:W3CDTF">2013-08-23T00:24:00Z</dcterms:created>
  <dcterms:modified xsi:type="dcterms:W3CDTF">2025-12-15T07:23:25Z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7F8516D1852342898841DB62CADB9958_12</vt:lpwstr>
  </property>
</Properties>
</file>